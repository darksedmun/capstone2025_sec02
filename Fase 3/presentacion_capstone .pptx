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02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Century Gothic" panose="020B0502020202020204" pitchFamily="34" charset="0"/>
      <p:regular r:id="rId27"/>
      <p:bold r:id="rId28"/>
      <p:italic r:id="rId29"/>
      <p:boldItalic r:id="rId30"/>
    </p:embeddedFont>
    <p:embeddedFont>
      <p:font typeface="Libre Franklin" pitchFamily="2" charset="0"/>
      <p:regular r:id="rId31"/>
      <p:bold r:id="rId32"/>
      <p:italic r:id="rId33"/>
      <p:boldItalic r:id="rId34"/>
    </p:embeddedFont>
    <p:embeddedFont>
      <p:font typeface="Wingdings 3" panose="05040102010807070707" pitchFamily="18" charset="2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MgbO9Jn/4D9KVn5qOutURHt0t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0fd600cea_2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90fd600cea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9fcd4a7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99fcd4a7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9ff75c5a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99ff75c5a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81bccfc5d_0_1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81bccfc5d_0_19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81bccfc5d_0_19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81bccfc5d_0_19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81bccfc5d_0_1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81bccfc5d_0_1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0fd600ce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90fd600ce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7548f402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a7548f402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642bbc5a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a642bbc5a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696e2486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696e2486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0fd600cea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90fd600cea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1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9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1" y="91547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8" y="32280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7" y="609603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0435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9143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97342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685802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4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58891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1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3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5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6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16234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12227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85608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801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535829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3" y="914400"/>
            <a:ext cx="3280975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3" y="2777067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40086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1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1" y="3843867"/>
            <a:ext cx="8304211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364887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6663563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9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241533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228311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3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54193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766734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39545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9898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130378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a81bccfc5d_0_2902"/>
          <p:cNvSpPr txBox="1">
            <a:spLocks noGrp="1"/>
          </p:cNvSpPr>
          <p:nvPr>
            <p:ph type="title"/>
          </p:nvPr>
        </p:nvSpPr>
        <p:spPr>
          <a:xfrm>
            <a:off x="683601" y="2524400"/>
            <a:ext cx="10824900" cy="2030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g3a81bccfc5d_0_290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45379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81bccfc5d_0_2923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721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g3a81bccfc5d_0_292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638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5"/>
            <a:ext cx="2981859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4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2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2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2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7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9767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  <p:sldLayoutId id="2147483820" r:id="rId18"/>
    <p:sldLayoutId id="2147483821" r:id="rId19"/>
  </p:sldLayoutIdLst>
  <p:transition spd="slow">
    <p:wipe/>
  </p:transition>
  <p:hf sldNum="0" hdr="0" ftr="0" dt="0"/>
  <p:txStyles>
    <p:titleStyle>
      <a:lvl1pPr algn="l" defTabSz="457189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44" indent="-285744" algn="l" defTabSz="457189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21" indent="-285744" algn="l" defTabSz="457189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12" indent="-171446" algn="l" defTabSz="457189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01" indent="-171446" algn="l" defTabSz="457189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hyperlink" Target="http://drive.google.com/file/d/1hmo0hzVGQ3vQ0XylXN4DWxB53z53PFqH/view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hyperlink" Target="http://drive.google.com/file/d/1m6fqhKzBLIQnWgfSv9fPNR9RVsrNF9vt/view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637214A4-997B-4C95-951E-08E1B51B5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Google Shape;72;p1"/>
          <p:cNvSpPr txBox="1"/>
          <p:nvPr/>
        </p:nvSpPr>
        <p:spPr>
          <a:xfrm>
            <a:off x="684212" y="685799"/>
            <a:ext cx="8209531" cy="364556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cap="all" dirty="0">
                <a:ln w="3175" cmpd="sng">
                  <a:noFill/>
                </a:ln>
                <a:latin typeface="+mj-lt"/>
                <a:ea typeface="+mj-ea"/>
                <a:cs typeface="+mj-cs"/>
                <a:sym typeface="Libre Franklin"/>
              </a:rPr>
              <a:t>PROYECTO “Eco Finder”</a:t>
            </a:r>
            <a:endParaRPr lang="en-US" sz="4800" cap="all" dirty="0">
              <a:ln w="3175" cmpd="sng">
                <a:noFill/>
              </a:ln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cap="all" dirty="0">
                <a:ln w="3175" cmpd="sng">
                  <a:noFill/>
                </a:ln>
                <a:latin typeface="+mj-lt"/>
                <a:ea typeface="+mj-ea"/>
                <a:cs typeface="+mj-cs"/>
                <a:sym typeface="Libre Franklin"/>
              </a:rPr>
              <a:t>PRESENTACIÓN FINAL CAPSTONE</a:t>
            </a:r>
          </a:p>
        </p:txBody>
      </p:sp>
      <p:pic>
        <p:nvPicPr>
          <p:cNvPr id="71" name="Google Shape;71;p1" descr="EscuelaIT Duoc UC - Escuela de Informática y Telecomunicaciones Duoc UC - Duoc  UC | LinkedIn"/>
          <p:cNvPicPr preferRelativeResize="0"/>
          <p:nvPr/>
        </p:nvPicPr>
        <p:blipFill rotWithShape="1">
          <a:blip r:embed="rId3"/>
          <a:stretch/>
        </p:blipFill>
        <p:spPr>
          <a:xfrm>
            <a:off x="8401387" y="315642"/>
            <a:ext cx="3152439" cy="788109"/>
          </a:xfrm>
          <a:prstGeom prst="rect">
            <a:avLst/>
          </a:prstGeom>
          <a:noFill/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89" name="Group 88">
            <a:extLst>
              <a:ext uri="{FF2B5EF4-FFF2-40B4-BE49-F238E27FC236}">
                <a16:creationId xmlns:a16="http://schemas.microsoft.com/office/drawing/2014/main" id="{307A8868-805D-4C18-8A8B-4817BA9FF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0CF59EB9-1EAB-47CE-AC8B-8EFD96929F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B8786ADE-071C-435B-81E3-54A82DD5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F46AF6B-37AC-410E-9A0A-2F70B937A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AEF4DD0-8A5B-40F1-88BA-ABE5ADE4D2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BA5EA8C-8F33-4994-A748-233E839E4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 txBox="1"/>
          <p:nvPr/>
        </p:nvSpPr>
        <p:spPr>
          <a:xfrm>
            <a:off x="4530599" y="992901"/>
            <a:ext cx="3868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Integrantes del proyecto</a:t>
            </a:r>
            <a:endParaRPr sz="20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79" name="Google Shape;79;p2"/>
          <p:cNvGrpSpPr/>
          <p:nvPr/>
        </p:nvGrpSpPr>
        <p:grpSpPr>
          <a:xfrm>
            <a:off x="2442002" y="1593570"/>
            <a:ext cx="7633553" cy="4350605"/>
            <a:chOff x="0" y="0"/>
            <a:chExt cx="7633553" cy="4350605"/>
          </a:xfrm>
        </p:grpSpPr>
        <p:sp>
          <p:nvSpPr>
            <p:cNvPr id="80" name="Google Shape;80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7ABC2"/>
                </a:gs>
                <a:gs pos="50000">
                  <a:srgbClr val="72A2BE"/>
                </a:gs>
                <a:gs pos="100000">
                  <a:srgbClr val="618FAC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1" name="Google Shape;81;p2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1" tIns="99051" rIns="99051" bIns="99051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600"/>
              </a:pPr>
              <a:r>
                <a:rPr lang="es-CL" sz="26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Ignacio Morales</a:t>
              </a:r>
              <a:endParaRPr sz="2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228594" lvl="1" indent="-228594">
                <a:lnSpc>
                  <a:spcPct val="90000"/>
                </a:lnSpc>
                <a:spcBef>
                  <a:spcPts val="911"/>
                </a:spcBef>
                <a:buClr>
                  <a:schemeClr val="lt1"/>
                </a:buClr>
                <a:buSzPts val="2000"/>
                <a:buFont typeface="Libre Franklin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Scrum Master, Developer 1</a:t>
              </a:r>
              <a:endParaRPr sz="20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name="adj" fmla="val 10000"/>
              </a:avLst>
            </a:prstGeom>
            <a:solidFill>
              <a:srgbClr val="C9D7E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3" name="Google Shape;83;p2"/>
            <p:cNvSpPr txBox="1"/>
            <p:nvPr/>
          </p:nvSpPr>
          <p:spPr>
            <a:xfrm>
              <a:off x="1662653" y="1495502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1" tIns="99051" rIns="99051" bIns="99051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600"/>
              </a:pPr>
              <a:r>
                <a:rPr lang="es-CL" sz="26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Mauricio Pina</a:t>
              </a:r>
              <a:br>
                <a:rPr lang="es-CL" sz="26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</a:br>
              <a:r>
                <a:rPr lang="es-CL" sz="26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Cargo</a:t>
              </a:r>
              <a:endParaRPr/>
            </a:p>
            <a:p>
              <a:pPr>
                <a:lnSpc>
                  <a:spcPct val="90000"/>
                </a:lnSpc>
                <a:spcBef>
                  <a:spcPts val="911"/>
                </a:spcBef>
                <a:buClr>
                  <a:schemeClr val="dk1"/>
                </a:buClr>
                <a:buSzPts val="2600"/>
              </a:pPr>
              <a:endParaRPr sz="2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35954" y="1631457"/>
              <a:ext cx="1526700" cy="1087500"/>
            </a:xfrm>
            <a:prstGeom prst="roundRect">
              <a:avLst>
                <a:gd name="adj" fmla="val 10000"/>
              </a:avLst>
            </a:prstGeom>
            <a:solidFill>
              <a:srgbClr val="C9D7E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0" y="2991005"/>
              <a:ext cx="7633500" cy="13596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7ABC2"/>
                </a:gs>
                <a:gs pos="50000">
                  <a:srgbClr val="72A2BE"/>
                </a:gs>
                <a:gs pos="100000">
                  <a:srgbClr val="618FAC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6" name="Google Shape;86;p2"/>
            <p:cNvSpPr txBox="1"/>
            <p:nvPr/>
          </p:nvSpPr>
          <p:spPr>
            <a:xfrm>
              <a:off x="1662653" y="2991005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1" tIns="99051" rIns="99051" bIns="99051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600"/>
              </a:pPr>
              <a:r>
                <a:rPr lang="es-CL" sz="26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Mauricio Piña</a:t>
              </a:r>
              <a:endParaRPr/>
            </a:p>
            <a:p>
              <a:pPr marL="228594" lvl="1" indent="-228594">
                <a:lnSpc>
                  <a:spcPct val="90000"/>
                </a:lnSpc>
                <a:spcBef>
                  <a:spcPts val="911"/>
                </a:spcBef>
                <a:buClr>
                  <a:schemeClr val="lt1"/>
                </a:buClr>
                <a:buSzPts val="2000"/>
                <a:buFont typeface="Libre Franklin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Developer 3, Tester QA</a:t>
              </a:r>
              <a:endParaRPr sz="20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228594" lvl="1" indent="-101597">
                <a:lnSpc>
                  <a:spcPct val="90000"/>
                </a:lnSpc>
                <a:spcBef>
                  <a:spcPts val="300"/>
                </a:spcBef>
                <a:buClr>
                  <a:schemeClr val="dk1"/>
                </a:buClr>
                <a:buSzPts val="2000"/>
              </a:pPr>
              <a:endParaRPr sz="20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35954" y="3126960"/>
              <a:ext cx="1526700" cy="1087500"/>
            </a:xfrm>
            <a:prstGeom prst="roundRect">
              <a:avLst>
                <a:gd name="adj" fmla="val 10000"/>
              </a:avLst>
            </a:prstGeom>
            <a:solidFill>
              <a:srgbClr val="C9D7E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0" y="1495502"/>
              <a:ext cx="7633500" cy="13596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87ABC2"/>
                </a:gs>
                <a:gs pos="50000">
                  <a:srgbClr val="72A2BE"/>
                </a:gs>
                <a:gs pos="100000">
                  <a:srgbClr val="618FAC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89" name="Google Shape;89;p2"/>
          <p:cNvSpPr/>
          <p:nvPr/>
        </p:nvSpPr>
        <p:spPr>
          <a:xfrm>
            <a:off x="2580406" y="3206323"/>
            <a:ext cx="1526700" cy="1087500"/>
          </a:xfrm>
          <a:prstGeom prst="roundRect">
            <a:avLst>
              <a:gd name="adj" fmla="val 10000"/>
            </a:avLst>
          </a:prstGeom>
          <a:solidFill>
            <a:srgbClr val="C9D7E0"/>
          </a:solidFill>
          <a:ln>
            <a:noFill/>
          </a:ln>
          <a:effectLst>
            <a:outerShdw blurRad="57150" dist="19050" dir="5400000" algn="ctr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4153655" y="3089069"/>
            <a:ext cx="5970900" cy="1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1" tIns="99051" rIns="99051" bIns="99051" anchor="t" anchorCtr="0">
            <a:noAutofit/>
          </a:bodyPr>
          <a:lstStyle/>
          <a:p>
            <a:pPr>
              <a:lnSpc>
                <a:spcPct val="90000"/>
              </a:lnSpc>
              <a:buClr>
                <a:schemeClr val="lt1"/>
              </a:buClr>
              <a:buSzPts val="2600"/>
            </a:pPr>
            <a:r>
              <a:rPr lang="es-CL" sz="2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Elías Avendaño</a:t>
            </a:r>
            <a:endParaRPr sz="26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594" lvl="1" indent="-228594">
              <a:lnSpc>
                <a:spcPct val="90000"/>
              </a:lnSpc>
              <a:spcBef>
                <a:spcPts val="911"/>
              </a:spcBef>
              <a:buClr>
                <a:schemeClr val="lt1"/>
              </a:buClr>
              <a:buSzPts val="2000"/>
              <a:buFont typeface="Libre Franklin"/>
              <a:buChar char="•"/>
            </a:pPr>
            <a:r>
              <a:rPr lang="es-CL" sz="20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Product Owner, Developer 2</a:t>
            </a:r>
            <a:endParaRPr sz="20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189">
              <a:lnSpc>
                <a:spcPct val="90000"/>
              </a:lnSpc>
              <a:spcBef>
                <a:spcPts val="911"/>
              </a:spcBef>
            </a:pPr>
            <a:endParaRPr sz="26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3150" y="1742251"/>
            <a:ext cx="1033351" cy="10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5">
            <a:alphaModFix/>
          </a:blip>
          <a:srcRect t="16957" b="16544"/>
          <a:stretch/>
        </p:blipFill>
        <p:spPr>
          <a:xfrm flipH="1">
            <a:off x="2883147" y="3206326"/>
            <a:ext cx="921216" cy="108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8169" y="4719201"/>
            <a:ext cx="891168" cy="108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0" y="1130850"/>
            <a:ext cx="121920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Descripción del proyecto</a:t>
            </a:r>
            <a:endParaRPr sz="20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156847" y="2149995"/>
            <a:ext cx="4348800" cy="40926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349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endParaRPr sz="1600" u="sng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ctr"/>
            <a:r>
              <a:rPr lang="es-CL" sz="16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Problema o dolor</a:t>
            </a:r>
            <a:endParaRPr sz="1600"/>
          </a:p>
          <a:p>
            <a:pPr algn="ctr"/>
            <a:endParaRPr u="sng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just"/>
            <a:r>
              <a:rPr lang="es-CL">
                <a:solidFill>
                  <a:schemeClr val="dk1"/>
                </a:solidFill>
              </a:rPr>
              <a:t>La </a:t>
            </a:r>
            <a:r>
              <a:rPr lang="es-CL" b="1">
                <a:solidFill>
                  <a:schemeClr val="dk1"/>
                </a:solidFill>
              </a:rPr>
              <a:t>baja tasa de reciclaje domiciliario</a:t>
            </a:r>
            <a:r>
              <a:rPr lang="es-CL">
                <a:solidFill>
                  <a:schemeClr val="dk1"/>
                </a:solidFill>
              </a:rPr>
              <a:t> y la </a:t>
            </a:r>
            <a:r>
              <a:rPr lang="es-CL" b="1">
                <a:solidFill>
                  <a:schemeClr val="dk1"/>
                </a:solidFill>
              </a:rPr>
              <a:t>falta de incentivos directos</a:t>
            </a:r>
            <a:r>
              <a:rPr lang="es-CL">
                <a:solidFill>
                  <a:schemeClr val="dk1"/>
                </a:solidFill>
              </a:rPr>
              <a:t> para la participación ciudadana en el sistema de gestión de residuos en la Región Metropolitana.</a:t>
            </a:r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ctr"/>
            <a:endParaRPr u="sng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372379" y="1840521"/>
            <a:ext cx="4432525" cy="4711547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349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CL" sz="1600" u="sng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Propuesta de solución</a:t>
            </a:r>
            <a:endParaRPr u="sng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just">
              <a:buClr>
                <a:schemeClr val="dk1"/>
              </a:buClr>
              <a:buSzPts val="1100"/>
            </a:pPr>
            <a:r>
              <a:rPr lang="es-CL" b="1" dirty="0">
                <a:solidFill>
                  <a:schemeClr val="dk1"/>
                </a:solidFill>
              </a:rPr>
              <a:t>Para el Ciudadano:</a:t>
            </a:r>
            <a:r>
              <a:rPr lang="es-CL" dirty="0">
                <a:solidFill>
                  <a:schemeClr val="dk1"/>
                </a:solidFill>
              </a:rPr>
              <a:t> Falta de conocimiento sobre dónde reciclar y ausencia de una recompensa tangible e inmediata por el esfuerzo de separar residuos, lo que resulta en una baja motivación.</a:t>
            </a:r>
            <a:endParaRPr dirty="0">
              <a:solidFill>
                <a:schemeClr val="dk1"/>
              </a:solidFill>
            </a:endParaRPr>
          </a:p>
          <a:p>
            <a:pPr algn="just">
              <a:buClr>
                <a:schemeClr val="dk1"/>
              </a:buClr>
              <a:buSzPts val="1100"/>
            </a:pPr>
            <a:endParaRPr dirty="0">
              <a:solidFill>
                <a:schemeClr val="dk1"/>
              </a:solidFill>
            </a:endParaRPr>
          </a:p>
          <a:p>
            <a:pPr algn="just">
              <a:buClr>
                <a:schemeClr val="dk1"/>
              </a:buClr>
              <a:buSzPts val="1100"/>
            </a:pPr>
            <a:r>
              <a:rPr lang="es-CL" b="1" dirty="0">
                <a:solidFill>
                  <a:schemeClr val="dk1"/>
                </a:solidFill>
              </a:rPr>
              <a:t>Para el Sistema de Reciclaje:</a:t>
            </a:r>
            <a:r>
              <a:rPr lang="es-CL" dirty="0">
                <a:solidFill>
                  <a:schemeClr val="dk1"/>
                </a:solidFill>
              </a:rPr>
              <a:t> La operación es ineficiente y dependiente de la iniciativa individual, lo que limita la trazabilidad y la escalabilidad de la recolección de material valioso.</a:t>
            </a:r>
            <a:endParaRPr dirty="0">
              <a:solidFill>
                <a:schemeClr val="dk1"/>
              </a:solidFill>
            </a:endParaRPr>
          </a:p>
          <a:p>
            <a:pPr algn="just"/>
            <a:endParaRPr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800653" y="3696833"/>
            <a:ext cx="1140600" cy="7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34925" cap="flat" cmpd="sng">
            <a:solidFill>
              <a:srgbClr val="3B3B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 txBox="1"/>
          <p:nvPr/>
        </p:nvSpPr>
        <p:spPr>
          <a:xfrm>
            <a:off x="2148275" y="949700"/>
            <a:ext cx="77856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Objetivo General</a:t>
            </a:r>
            <a:endParaRPr sz="20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1" y="3946147"/>
            <a:ext cx="121920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Objetivos Específicos</a:t>
            </a:r>
            <a:endParaRPr sz="20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17775" y="1620200"/>
            <a:ext cx="10446600" cy="1945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49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Desarrollar un prototipo funcional de aplicación </a:t>
            </a:r>
            <a:r>
              <a:rPr lang="es-CL" sz="2000" i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cross-platform</a:t>
            </a:r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denominado </a:t>
            </a:r>
            <a:r>
              <a:rPr lang="es-CL" sz="20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EcoFinder</a:t>
            </a:r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fundamentado en la Ingeniería Informática, con el propósito de </a:t>
            </a:r>
            <a:r>
              <a:rPr lang="es-CL" sz="20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incentivar la participación ciudadana en el reciclaje</a:t>
            </a:r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dentro de la Región Metropolitana mediante la implementación de un sistema de recompensas seguro y dinámico.</a:t>
            </a:r>
            <a:endParaRPr sz="2000"/>
          </a:p>
        </p:txBody>
      </p:sp>
      <p:sp>
        <p:nvSpPr>
          <p:cNvPr id="111" name="Google Shape;111;p4"/>
          <p:cNvSpPr/>
          <p:nvPr/>
        </p:nvSpPr>
        <p:spPr>
          <a:xfrm>
            <a:off x="982326" y="4664075"/>
            <a:ext cx="10117500" cy="182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49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Diseño e Implementación de Experiencia de Usuario.</a:t>
            </a:r>
            <a:endParaRPr sz="20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Integración de Sistemas de Geolocalización y Datos en Tiempo Real.</a:t>
            </a:r>
            <a:endParaRPr sz="20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Desarrollo del Módulo de Propuesta de Valor.</a:t>
            </a:r>
            <a:endParaRPr sz="20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Establecimiento de Arquitectura de Seguridad y Persistencia.</a:t>
            </a:r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1371596" y="1774795"/>
            <a:ext cx="4348800" cy="40926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349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endParaRPr sz="1600" u="sng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ctr"/>
            <a:r>
              <a:rPr lang="es-CL" sz="16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Alcance</a:t>
            </a:r>
            <a:endParaRPr u="sng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just"/>
            <a:endParaRPr>
              <a:solidFill>
                <a:schemeClr val="dk1"/>
              </a:solidFill>
            </a:endParaRPr>
          </a:p>
          <a:p>
            <a:pPr marL="457189" indent="-317492">
              <a:buClr>
                <a:schemeClr val="dk2"/>
              </a:buClr>
              <a:buSzPts val="1400"/>
              <a:buFont typeface="Libre Franklin"/>
              <a:buChar char="●"/>
            </a:pPr>
            <a:r>
              <a:rPr lang="es-CL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Sistema de canje de puntos para fomentar el sistema ecológico.</a:t>
            </a:r>
            <a:endParaRPr>
              <a:solidFill>
                <a:schemeClr val="dk1"/>
              </a:solidFill>
            </a:endParaRPr>
          </a:p>
          <a:p>
            <a:pPr algn="ctr"/>
            <a:endParaRPr u="sng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219397" y="1774795"/>
            <a:ext cx="4348800" cy="40926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349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endParaRPr u="sng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ctr"/>
            <a:r>
              <a:rPr lang="es-CL" sz="1600" u="sng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Limitaciones del proyecto</a:t>
            </a:r>
            <a:endParaRPr sz="1600" u="sng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endParaRPr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189" indent="-317492">
              <a:buClr>
                <a:schemeClr val="dk1"/>
              </a:buClr>
              <a:buSzPts val="1400"/>
              <a:buFont typeface="Libre Franklin"/>
              <a:buChar char="●"/>
            </a:pPr>
            <a:r>
              <a:rPr lang="es-CL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El proyecto se limita en puntos de reciclaje solo de la Región Metropolitana, más concretamente en Santiago.</a:t>
            </a:r>
          </a:p>
          <a:p>
            <a:pPr marL="457189" indent="-317492">
              <a:buClr>
                <a:schemeClr val="dk1"/>
              </a:buClr>
              <a:buSzPts val="1400"/>
              <a:buFont typeface="Libre Franklin"/>
              <a:buChar char="●"/>
            </a:pPr>
            <a:r>
              <a:rPr lang="es-CL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Las funciones de Apis de pago.</a:t>
            </a:r>
          </a:p>
          <a:p>
            <a:pPr marL="457189" indent="-317492">
              <a:buClr>
                <a:schemeClr val="dk1"/>
              </a:buClr>
              <a:buSzPts val="1400"/>
              <a:buFont typeface="Libre Franklin"/>
              <a:buChar char="●"/>
            </a:pPr>
            <a:r>
              <a:rPr lang="es-CL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La falta de presupuesto para inyectar en el proyecto.</a:t>
            </a:r>
          </a:p>
          <a:p>
            <a:pPr marL="457189" indent="-317492">
              <a:buClr>
                <a:schemeClr val="dk1"/>
              </a:buClr>
              <a:buSzPts val="1400"/>
              <a:buFont typeface="Libre Franklin"/>
              <a:buChar char="●"/>
            </a:pPr>
            <a:endParaRPr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189"/>
            <a:endParaRPr sz="1600" u="sng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ctr"/>
            <a:endParaRPr u="sng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899603" y="3268033"/>
            <a:ext cx="1140600" cy="7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34925" cap="flat" cmpd="sng">
            <a:solidFill>
              <a:srgbClr val="3B3B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 txBox="1"/>
          <p:nvPr/>
        </p:nvSpPr>
        <p:spPr>
          <a:xfrm>
            <a:off x="1834551" y="1320513"/>
            <a:ext cx="85230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Metodología de trabajo para el desarrollo del proyecto</a:t>
            </a:r>
            <a:endParaRPr sz="20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26" name="Google Shape;12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9850" y="2400300"/>
            <a:ext cx="8178951" cy="28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90fd600cea_2_1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90fd600cea_2_13"/>
          <p:cNvSpPr txBox="1"/>
          <p:nvPr/>
        </p:nvSpPr>
        <p:spPr>
          <a:xfrm>
            <a:off x="3238375" y="933977"/>
            <a:ext cx="58644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Cronograma para el desarrollo del proyecto</a:t>
            </a:r>
            <a:endParaRPr sz="2000"/>
          </a:p>
          <a:p>
            <a:pPr algn="ctr"/>
            <a:endParaRPr sz="2000">
              <a:solidFill>
                <a:srgbClr val="948954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33" name="Google Shape;133;g390fd600cea_2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1175" y="1689526"/>
            <a:ext cx="8629651" cy="440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399fcd4a745_0_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99fcd4a745_0_0"/>
          <p:cNvSpPr txBox="1"/>
          <p:nvPr/>
        </p:nvSpPr>
        <p:spPr>
          <a:xfrm>
            <a:off x="3238375" y="933977"/>
            <a:ext cx="58644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Cronograma para el desarrollo del proyecto</a:t>
            </a:r>
            <a:endParaRPr sz="2000"/>
          </a:p>
          <a:p>
            <a:pPr algn="ctr"/>
            <a:endParaRPr sz="2000">
              <a:solidFill>
                <a:srgbClr val="948954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40" name="Google Shape;140;g399fcd4a74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8475" y="1424250"/>
            <a:ext cx="6229300" cy="525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99ff75c5ad_0_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99ff75c5ad_0_0"/>
          <p:cNvSpPr txBox="1"/>
          <p:nvPr/>
        </p:nvSpPr>
        <p:spPr>
          <a:xfrm>
            <a:off x="-1978517" y="0"/>
            <a:ext cx="58644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20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Tablero Scrum</a:t>
            </a:r>
            <a:endParaRPr sz="2000" dirty="0"/>
          </a:p>
          <a:p>
            <a:pPr algn="ctr"/>
            <a:endParaRPr sz="2000" dirty="0">
              <a:solidFill>
                <a:srgbClr val="948954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47" name="Google Shape;147;g399ff75c5a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92903"/>
            <a:ext cx="11308597" cy="5865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 txBox="1"/>
          <p:nvPr/>
        </p:nvSpPr>
        <p:spPr>
          <a:xfrm>
            <a:off x="3033900" y="685801"/>
            <a:ext cx="61242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Arquitectura del software</a:t>
            </a:r>
            <a:endParaRPr sz="2000"/>
          </a:p>
          <a:p>
            <a:pPr algn="ctr"/>
            <a:endParaRPr/>
          </a:p>
        </p:txBody>
      </p:sp>
      <p:pic>
        <p:nvPicPr>
          <p:cNvPr id="154" name="Google Shape;15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4651" y="1222424"/>
            <a:ext cx="7232132" cy="563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 txBox="1"/>
          <p:nvPr/>
        </p:nvSpPr>
        <p:spPr>
          <a:xfrm>
            <a:off x="3536250" y="316500"/>
            <a:ext cx="5119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Modelo de datos</a:t>
            </a:r>
            <a:endParaRPr sz="133"/>
          </a:p>
        </p:txBody>
      </p:sp>
      <p:pic>
        <p:nvPicPr>
          <p:cNvPr id="161" name="Google Shape;161;p9" title="modelo_de_dato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2426" y="781200"/>
            <a:ext cx="8282053" cy="59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3a81bccfc5d_0_19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0347" y="3668801"/>
            <a:ext cx="2845728" cy="25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a81bccfc5d_0_19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9189" y="48025"/>
            <a:ext cx="3173625" cy="341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a81bccfc5d_0_19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701" y="3668801"/>
            <a:ext cx="2975675" cy="25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a81bccfc5d_0_19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4366" y="3605764"/>
            <a:ext cx="2459975" cy="2482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a81bccfc5d_0_19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526" y="2268800"/>
            <a:ext cx="3192575" cy="3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a81bccfc5d_0_19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114" y="2564579"/>
            <a:ext cx="3747775" cy="2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a81bccfc5d_0_19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24651" y="2606205"/>
            <a:ext cx="3192575" cy="2924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a81bccfc5d_0_19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6175" y="2273975"/>
            <a:ext cx="3984651" cy="368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a81bccfc5d_0_19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2749" y="2343700"/>
            <a:ext cx="3550051" cy="355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0"/>
          <p:cNvSpPr txBox="1"/>
          <p:nvPr/>
        </p:nvSpPr>
        <p:spPr>
          <a:xfrm>
            <a:off x="0" y="1432656"/>
            <a:ext cx="121920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Tecnologías utilizadas</a:t>
            </a:r>
            <a:endParaRPr sz="300"/>
          </a:p>
        </p:txBody>
      </p:sp>
      <p:sp>
        <p:nvSpPr>
          <p:cNvPr id="189" name="Google Shape;189;p10" descr="Prisma, un toolkit para bases de datos (¿ORM?) para TypeScript y Node.js -  DEV Community"/>
          <p:cNvSpPr/>
          <p:nvPr/>
        </p:nvSpPr>
        <p:spPr>
          <a:xfrm>
            <a:off x="5873324" y="3381863"/>
            <a:ext cx="1734000" cy="17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90" name="Google Shape;190;p10" descr="Prisma, un toolkit para bases de datos (¿ORM?) para TypeScript y Node.js -  DEV Community"/>
          <p:cNvSpPr/>
          <p:nvPr/>
        </p:nvSpPr>
        <p:spPr>
          <a:xfrm>
            <a:off x="5853351" y="338185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91" name="Google Shape;19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950" y="3066807"/>
            <a:ext cx="1934100" cy="81382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0"/>
          <p:cNvSpPr txBox="1"/>
          <p:nvPr/>
        </p:nvSpPr>
        <p:spPr>
          <a:xfrm>
            <a:off x="8646955" y="4064207"/>
            <a:ext cx="19341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Base de Datos</a:t>
            </a:r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ctr"/>
            <a:r>
              <a:rPr lang="es-CL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PostgreSQL + Prisma ORM</a:t>
            </a:r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5109451" y="4064201"/>
            <a:ext cx="29616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Diseño </a:t>
            </a:r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ctr"/>
            <a:r>
              <a:rPr lang="es-CL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Tailwind CSS</a:t>
            </a:r>
            <a:endParaRPr sz="1000"/>
          </a:p>
        </p:txBody>
      </p:sp>
      <p:sp>
        <p:nvSpPr>
          <p:cNvPr id="194" name="Google Shape;194;p10"/>
          <p:cNvSpPr txBox="1"/>
          <p:nvPr/>
        </p:nvSpPr>
        <p:spPr>
          <a:xfrm>
            <a:off x="1610951" y="4064175"/>
            <a:ext cx="3187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Frontend + Backend </a:t>
            </a:r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ctr"/>
            <a:r>
              <a:rPr lang="es-CL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React, Next.js + API routes</a:t>
            </a:r>
            <a:endParaRPr sz="1000"/>
          </a:p>
        </p:txBody>
      </p:sp>
      <p:pic>
        <p:nvPicPr>
          <p:cNvPr id="195" name="Google Shape;19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0324" y="2575459"/>
            <a:ext cx="2649051" cy="121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9676" y="2724673"/>
            <a:ext cx="1505547" cy="91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46951" y="1984600"/>
            <a:ext cx="1934103" cy="1087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g390fd600cea_0_1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90fd600cea_0_18"/>
          <p:cNvSpPr txBox="1"/>
          <p:nvPr/>
        </p:nvSpPr>
        <p:spPr>
          <a:xfrm>
            <a:off x="0" y="1432656"/>
            <a:ext cx="121920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Tecnologías utilizadas</a:t>
            </a:r>
            <a:endParaRPr sz="300"/>
          </a:p>
        </p:txBody>
      </p:sp>
      <p:sp>
        <p:nvSpPr>
          <p:cNvPr id="204" name="Google Shape;204;g390fd600cea_0_18" descr="Prisma, un toolkit para bases de datos (¿ORM?) para TypeScript y Node.js -  DEV Community"/>
          <p:cNvSpPr/>
          <p:nvPr/>
        </p:nvSpPr>
        <p:spPr>
          <a:xfrm>
            <a:off x="5853351" y="338185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5" name="Google Shape;205;g390fd600cea_0_18"/>
          <p:cNvSpPr txBox="1"/>
          <p:nvPr/>
        </p:nvSpPr>
        <p:spPr>
          <a:xfrm>
            <a:off x="1210600" y="4020001"/>
            <a:ext cx="1992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Json Web Tokens</a:t>
            </a:r>
            <a:endParaRPr sz="1000"/>
          </a:p>
        </p:txBody>
      </p:sp>
      <p:pic>
        <p:nvPicPr>
          <p:cNvPr id="206" name="Google Shape;206;g390fd600cea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17175" y="2562513"/>
            <a:ext cx="1929927" cy="101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90fd600cea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0965" y="2331726"/>
            <a:ext cx="2216175" cy="14747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90fd600cea_0_18"/>
          <p:cNvSpPr txBox="1"/>
          <p:nvPr/>
        </p:nvSpPr>
        <p:spPr>
          <a:xfrm>
            <a:off x="7466399" y="3912301"/>
            <a:ext cx="11853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Nodemailer</a:t>
            </a:r>
            <a:endParaRPr sz="1000"/>
          </a:p>
        </p:txBody>
      </p:sp>
      <p:pic>
        <p:nvPicPr>
          <p:cNvPr id="209" name="Google Shape;209;g390fd600cea_0_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5051" y="1876876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90fd600cea_0_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29554" y="2756381"/>
            <a:ext cx="2371375" cy="62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90fd600cea_0_18"/>
          <p:cNvSpPr txBox="1"/>
          <p:nvPr/>
        </p:nvSpPr>
        <p:spPr>
          <a:xfrm>
            <a:off x="4248237" y="4020000"/>
            <a:ext cx="17340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Leaflet.js</a:t>
            </a:r>
            <a:endParaRPr sz="1000"/>
          </a:p>
        </p:txBody>
      </p:sp>
      <p:sp>
        <p:nvSpPr>
          <p:cNvPr id="212" name="Google Shape;212;g390fd600cea_0_18"/>
          <p:cNvSpPr txBox="1"/>
          <p:nvPr/>
        </p:nvSpPr>
        <p:spPr>
          <a:xfrm>
            <a:off x="10189487" y="3912301"/>
            <a:ext cx="11853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Testing unitarios en API routes</a:t>
            </a: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3a7548f402c_0_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a7548f402c_0_5"/>
          <p:cNvSpPr txBox="1"/>
          <p:nvPr/>
        </p:nvSpPr>
        <p:spPr>
          <a:xfrm>
            <a:off x="0" y="1432656"/>
            <a:ext cx="121920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Tecnologías utilizadas</a:t>
            </a:r>
            <a:endParaRPr sz="300"/>
          </a:p>
        </p:txBody>
      </p:sp>
      <p:sp>
        <p:nvSpPr>
          <p:cNvPr id="219" name="Google Shape;219;g3a7548f402c_0_5" descr="Prisma, un toolkit para bases de datos (¿ORM?) para TypeScript y Node.js -  DEV Community"/>
          <p:cNvSpPr/>
          <p:nvPr/>
        </p:nvSpPr>
        <p:spPr>
          <a:xfrm>
            <a:off x="5853351" y="338185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0" name="Google Shape;220;g3a7548f402c_0_5"/>
          <p:cNvSpPr txBox="1"/>
          <p:nvPr/>
        </p:nvSpPr>
        <p:spPr>
          <a:xfrm>
            <a:off x="5138763" y="4317026"/>
            <a:ext cx="173400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1000"/>
          </a:p>
        </p:txBody>
      </p:sp>
      <p:pic>
        <p:nvPicPr>
          <p:cNvPr id="221" name="Google Shape;221;g3a7548f402c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6677" y="2421551"/>
            <a:ext cx="5038641" cy="22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1" title="EcoFinder App — Mozilla Firefox 2025-11-19 02-50-03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2526" y="1949577"/>
            <a:ext cx="7288949" cy="391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/>
          <p:cNvSpPr txBox="1"/>
          <p:nvPr/>
        </p:nvSpPr>
        <p:spPr>
          <a:xfrm>
            <a:off x="0" y="1432656"/>
            <a:ext cx="121920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Demostración del resultado del proyecto - Web</a:t>
            </a:r>
            <a:endParaRPr sz="300"/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a642bbc5ac_0_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a642bbc5ac_0_1" title="EcoFinder App — Mozilla Firefox 2025-11-19 03-11-49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6401" y="2026052"/>
            <a:ext cx="5592900" cy="4194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a642bbc5ac_0_1"/>
          <p:cNvSpPr txBox="1"/>
          <p:nvPr/>
        </p:nvSpPr>
        <p:spPr>
          <a:xfrm>
            <a:off x="0" y="1432656"/>
            <a:ext cx="121920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Demostración del resultado del proyecto - Móvile</a:t>
            </a:r>
            <a:endParaRPr sz="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3a696e24865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14" y="1803340"/>
            <a:ext cx="10197798" cy="2521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a696e24865_0_1" descr="EscuelaIT Duoc UC - Escuela de Informática y Telecomunicaciones Duoc UC - Duoc  UC | LinkedI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1587" y="2272478"/>
            <a:ext cx="3099101" cy="354268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2"/>
          <p:cNvSpPr txBox="1"/>
          <p:nvPr/>
        </p:nvSpPr>
        <p:spPr>
          <a:xfrm>
            <a:off x="0" y="1432656"/>
            <a:ext cx="12192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40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Resultados obtenidos</a:t>
            </a:r>
            <a:endParaRPr sz="4000" dirty="0"/>
          </a:p>
        </p:txBody>
      </p:sp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9808" y="2520934"/>
            <a:ext cx="3688624" cy="374958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3"/>
          <p:cNvSpPr txBox="1"/>
          <p:nvPr/>
        </p:nvSpPr>
        <p:spPr>
          <a:xfrm>
            <a:off x="0" y="1432656"/>
            <a:ext cx="12192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40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Obstáculos presentados durante el desarrollo</a:t>
            </a:r>
            <a:endParaRPr sz="4000" dirty="0"/>
          </a:p>
        </p:txBody>
      </p:sp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1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9989" y="2336725"/>
            <a:ext cx="2761475" cy="200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4"/>
          <p:cNvSpPr txBox="1"/>
          <p:nvPr/>
        </p:nvSpPr>
        <p:spPr>
          <a:xfrm>
            <a:off x="0" y="1432656"/>
            <a:ext cx="121920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Preguntas de la comisión</a:t>
            </a:r>
            <a:endParaRPr sz="300"/>
          </a:p>
        </p:txBody>
      </p:sp>
    </p:spTree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0fd600cea_5_0"/>
          <p:cNvSpPr txBox="1">
            <a:spLocks noGrp="1"/>
          </p:cNvSpPr>
          <p:nvPr>
            <p:ph type="title"/>
          </p:nvPr>
        </p:nvSpPr>
        <p:spPr>
          <a:xfrm>
            <a:off x="3711751" y="2574000"/>
            <a:ext cx="4925100" cy="1710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 algn="ctr"/>
            <a:r>
              <a:rPr lang="es-CL" sz="4000"/>
              <a:t>¡GRACIAS!</a:t>
            </a:r>
            <a:endParaRPr sz="4000"/>
          </a:p>
        </p:txBody>
      </p:sp>
      <p:pic>
        <p:nvPicPr>
          <p:cNvPr id="268" name="Google Shape;268;g390fd600cea_5_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3" y="207551"/>
            <a:ext cx="3141407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</TotalTime>
  <Words>367</Words>
  <Application>Microsoft Office PowerPoint</Application>
  <PresentationFormat>Panorámica</PresentationFormat>
  <Paragraphs>62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Libre Franklin</vt:lpstr>
      <vt:lpstr>Wingdings 3</vt:lpstr>
      <vt:lpstr>Century Gothic</vt:lpstr>
      <vt:lpstr>Arial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IGNACIO ESTEBAN MORALES AROSTICA</cp:lastModifiedBy>
  <cp:revision>3</cp:revision>
  <dcterms:created xsi:type="dcterms:W3CDTF">2023-10-28T21:12:11Z</dcterms:created>
  <dcterms:modified xsi:type="dcterms:W3CDTF">2025-11-22T00:47:31Z</dcterms:modified>
</cp:coreProperties>
</file>